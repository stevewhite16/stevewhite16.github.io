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60" r:id="rId4"/>
    <p:sldId id="272" r:id="rId5"/>
    <p:sldId id="257" r:id="rId6"/>
    <p:sldId id="269" r:id="rId7"/>
    <p:sldId id="265" r:id="rId8"/>
    <p:sldId id="268" r:id="rId9"/>
    <p:sldId id="262" r:id="rId10"/>
    <p:sldId id="271" r:id="rId11"/>
    <p:sldId id="267" r:id="rId12"/>
    <p:sldId id="270" r:id="rId13"/>
    <p:sldId id="266" r:id="rId14"/>
    <p:sldId id="263" r:id="rId15"/>
    <p:sldId id="261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A7372-A909-8342-B34D-EEDDBD7DCCD2}" v="92" dt="2025-08-21T16:08:30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46"/>
    <p:restoredTop sz="94631"/>
  </p:normalViewPr>
  <p:slideViewPr>
    <p:cSldViewPr snapToGrid="0">
      <p:cViewPr varScale="1">
        <p:scale>
          <a:sx n="92" d="100"/>
          <a:sy n="92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4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6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9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8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4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47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5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4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ED2DC-E6EC-FF49-9C6C-C19671B9C8BF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9259B-CD18-0D49-9EE3-071FD1528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5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B9D3-F111-D492-89D4-C21F2F691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Cobenfy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9B46D-92EE-6D1D-82E4-558B5D4D9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Steve White</a:t>
            </a:r>
          </a:p>
          <a:p>
            <a:r>
              <a:rPr lang="en-US" dirty="0"/>
              <a:t>8/22/25</a:t>
            </a:r>
          </a:p>
        </p:txBody>
      </p:sp>
    </p:spTree>
    <p:extLst>
      <p:ext uri="{BB962C8B-B14F-4D97-AF65-F5344CB8AC3E}">
        <p14:creationId xmlns:p14="http://schemas.microsoft.com/office/powerpoint/2010/main" val="409240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2E1C-FF23-9061-0F10-F0027766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5049-DC8D-F9B5-1200-FC7DD1A0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32DF9-A9EC-4A0B-638E-0B55E636C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i="1" dirty="0"/>
              <a:t>FDA approval 9/26/2024</a:t>
            </a:r>
          </a:p>
        </p:txBody>
      </p:sp>
      <p:pic>
        <p:nvPicPr>
          <p:cNvPr id="4" name="Picture 2" descr="Xanomeline - Wikipedia">
            <a:extLst>
              <a:ext uri="{FF2B5EF4-FFF2-40B4-BE49-F238E27FC236}">
                <a16:creationId xmlns:a16="http://schemas.microsoft.com/office/drawing/2014/main" id="{2D00266E-EECD-8C4E-58B7-B6CB84A22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44600"/>
            <a:ext cx="37211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7A6B0-AE46-3746-AEA3-03AB2F884A89}"/>
              </a:ext>
            </a:extLst>
          </p:cNvPr>
          <p:cNvSpPr txBox="1"/>
          <p:nvPr/>
        </p:nvSpPr>
        <p:spPr>
          <a:xfrm>
            <a:off x="5760603" y="3671094"/>
            <a:ext cx="1826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xanomeline</a:t>
            </a: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7F014-8CE5-F437-7F3A-6E1D1A0AD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089103"/>
            <a:ext cx="3505200" cy="1193800"/>
          </a:xfrm>
          <a:prstGeom prst="rect">
            <a:avLst/>
          </a:prstGeom>
        </p:spPr>
      </p:pic>
      <p:pic>
        <p:nvPicPr>
          <p:cNvPr id="2050" name="Picture 2" descr="Acetylcholine chloride">
            <a:extLst>
              <a:ext uri="{FF2B5EF4-FFF2-40B4-BE49-F238E27FC236}">
                <a16:creationId xmlns:a16="http://schemas.microsoft.com/office/drawing/2014/main" id="{DA99D28B-4673-1B46-DD3F-524B450AA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244813">
            <a:off x="6317671" y="4288839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1B922A-2E63-58DE-7E68-39B45228D5F6}"/>
              </a:ext>
            </a:extLst>
          </p:cNvPr>
          <p:cNvSpPr txBox="1"/>
          <p:nvPr/>
        </p:nvSpPr>
        <p:spPr>
          <a:xfrm>
            <a:off x="6381173" y="6123542"/>
            <a:ext cx="61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ACh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0808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43C9-74DD-FD7F-A0F8-BF5765B2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F920-EBD1-66BC-7258-A5CFAE58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28" y="217883"/>
            <a:ext cx="7886700" cy="736403"/>
          </a:xfrm>
        </p:spPr>
        <p:txBody>
          <a:bodyPr/>
          <a:lstStyle/>
          <a:p>
            <a:r>
              <a:rPr lang="en-US" b="1" dirty="0"/>
              <a:t>new antipsychotic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CAEE6-47DE-6C6E-269D-95B32B524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preferential M</a:t>
            </a:r>
            <a:r>
              <a:rPr lang="en-US" sz="2400" baseline="-25000" dirty="0"/>
              <a:t>1</a:t>
            </a:r>
            <a:r>
              <a:rPr lang="en-US" sz="2400" dirty="0"/>
              <a:t>, M</a:t>
            </a:r>
            <a:r>
              <a:rPr lang="en-US" sz="2400" baseline="-25000" dirty="0"/>
              <a:t>4</a:t>
            </a:r>
            <a:r>
              <a:rPr lang="en-US" sz="2400" dirty="0"/>
              <a:t> binding in CNS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combine with </a:t>
            </a:r>
            <a:r>
              <a:rPr lang="en-US" b="1" dirty="0" err="1"/>
              <a:t>trospium</a:t>
            </a:r>
            <a:r>
              <a:rPr lang="en-US" b="1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31BE4-900E-A1C8-DCF8-31D1A3D94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28" y="4878478"/>
            <a:ext cx="4079011" cy="1491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98E86C-5E45-4E02-4393-73921B0AF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74452"/>
            <a:ext cx="4079011" cy="1329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0ED52-B597-12D8-F75B-9BA06ABEC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28" y="1160372"/>
            <a:ext cx="56007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8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C79D-EB29-C3AC-92E6-455C5915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5" y="99218"/>
            <a:ext cx="7886700" cy="8844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Trials EMERGENT 2 and 3 (similar)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34F58-CB33-1460-807D-50B5C74E2F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5703" y="1419585"/>
                <a:ext cx="482138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trials of </a:t>
                </a:r>
                <a:r>
                  <a:rPr lang="en-US" dirty="0" err="1"/>
                  <a:t>xanomeline-trospium</a:t>
                </a:r>
                <a:r>
                  <a:rPr lang="en-US" dirty="0"/>
                  <a:t> as </a:t>
                </a:r>
                <a:r>
                  <a:rPr lang="en-US" b="1" dirty="0"/>
                  <a:t>monotherapy</a:t>
                </a:r>
                <a:r>
                  <a:rPr lang="en-US" dirty="0"/>
                  <a:t> in </a:t>
                </a:r>
                <a:r>
                  <a:rPr lang="en-US" b="1" dirty="0"/>
                  <a:t>acute </a:t>
                </a:r>
                <a:r>
                  <a:rPr lang="en-US" b="1" dirty="0" err="1"/>
                  <a:t>schziophrenia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primary outcome: PANSS (positive and negative syndrome scale)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inclusion criteria: baseline of 80-120 (mean ~100)</a:t>
                </a:r>
              </a:p>
              <a:p>
                <a:pPr marL="0" indent="0">
                  <a:buNone/>
                </a:pPr>
                <a:r>
                  <a:rPr lang="en-US" dirty="0"/>
                  <a:t>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250 for 90% power (5% level) for 8 pt reduction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34F58-CB33-1460-807D-50B5C74E2F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703" y="1419585"/>
                <a:ext cx="4821381" cy="4351338"/>
              </a:xfrm>
              <a:blipFill>
                <a:blip r:embed="rId2"/>
                <a:stretch>
                  <a:fillRect l="-2100" t="-3488" r="-2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C2C12F-ADB3-8961-06FE-03913E86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49" y="2205904"/>
            <a:ext cx="3369650" cy="2194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7F437D-77C1-F814-B7B5-819B244F7972}"/>
              </a:ext>
            </a:extLst>
          </p:cNvPr>
          <p:cNvSpPr txBox="1"/>
          <p:nvPr/>
        </p:nvSpPr>
        <p:spPr>
          <a:xfrm>
            <a:off x="180109" y="6466394"/>
            <a:ext cx="3220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source:</a:t>
            </a:r>
            <a:r>
              <a:rPr lang="en-US" sz="1600" dirty="0"/>
              <a:t> doi:10.1192/bjp.191.50.s7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477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3FC0-D2C7-B8D9-D10A-B70D532C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72" y="243176"/>
            <a:ext cx="7886700" cy="1325563"/>
          </a:xfrm>
        </p:spPr>
        <p:txBody>
          <a:bodyPr/>
          <a:lstStyle/>
          <a:p>
            <a:r>
              <a:rPr lang="en-US" b="1" dirty="0"/>
              <a:t>trial quality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C13C70-4746-41C6-9461-35BB03B0A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320947"/>
              </p:ext>
            </p:extLst>
          </p:nvPr>
        </p:nvGraphicFramePr>
        <p:xfrm>
          <a:off x="1192585" y="1568739"/>
          <a:ext cx="6470074" cy="4389120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1357747">
                  <a:extLst>
                    <a:ext uri="{9D8B030D-6E8A-4147-A177-3AD203B41FA5}">
                      <a16:colId xmlns:a16="http://schemas.microsoft.com/office/drawing/2014/main" val="2954052746"/>
                    </a:ext>
                  </a:extLst>
                </a:gridCol>
                <a:gridCol w="5112327">
                  <a:extLst>
                    <a:ext uri="{9D8B030D-6E8A-4147-A177-3AD203B41FA5}">
                      <a16:colId xmlns:a16="http://schemas.microsoft.com/office/drawing/2014/main" val="1731133160"/>
                    </a:ext>
                  </a:extLst>
                </a:gridCol>
              </a:tblGrid>
              <a:tr h="7770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Balance good (next slide)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ITT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Power 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927341"/>
                  </a:ext>
                </a:extLst>
              </a:tr>
              <a:tr h="7770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  <a:p>
                      <a:pPr algn="l"/>
                      <a:endParaRPr lang="en-US" dirty="0"/>
                    </a:p>
                    <a:p>
                      <a:pPr algn="l"/>
                      <a:endParaRPr lang="en-US" dirty="0"/>
                    </a:p>
                    <a:p>
                      <a:pPr algn="l"/>
                      <a:endParaRPr lang="en-US" dirty="0"/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065814"/>
                  </a:ext>
                </a:extLst>
              </a:tr>
              <a:tr h="7770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9976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029BC8-DC37-A9DF-1291-03353BE2775C}"/>
              </a:ext>
            </a:extLst>
          </p:cNvPr>
          <p:cNvSpPr txBox="1"/>
          <p:nvPr/>
        </p:nvSpPr>
        <p:spPr>
          <a:xfrm>
            <a:off x="2701637" y="255179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“mixed model for repeated measures with likelihood based modeling to handle incomplete data . . . include[</a:t>
            </a:r>
            <a:r>
              <a:rPr lang="en-US" dirty="0" err="1"/>
              <a:t>ing</a:t>
            </a:r>
            <a:r>
              <a:rPr lang="en-US" dirty="0"/>
              <a:t>] terms for  . . . treatment by visit interaction, site, . . . and baseline PANSS scores.”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9D7D8-992F-35D7-A593-6398DCE706A6}"/>
              </a:ext>
            </a:extLst>
          </p:cNvPr>
          <p:cNvSpPr txBox="1"/>
          <p:nvPr/>
        </p:nvSpPr>
        <p:spPr>
          <a:xfrm>
            <a:off x="2701637" y="3926534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monotherapy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attrition expected to be ~30% but &lt;10%, similar by groups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“history of treatment resistance to antipsychotic medication were excluded”</a:t>
            </a:r>
          </a:p>
        </p:txBody>
      </p:sp>
    </p:spTree>
    <p:extLst>
      <p:ext uri="{BB962C8B-B14F-4D97-AF65-F5344CB8AC3E}">
        <p14:creationId xmlns:p14="http://schemas.microsoft.com/office/powerpoint/2010/main" val="23248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8A03-58F1-10FB-219C-406EE155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3" y="-198832"/>
            <a:ext cx="7886700" cy="1325563"/>
          </a:xfrm>
        </p:spPr>
        <p:txBody>
          <a:bodyPr/>
          <a:lstStyle/>
          <a:p>
            <a:r>
              <a:rPr lang="en-US" b="1" dirty="0"/>
              <a:t>Balance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A789-2C05-F5DF-AFF2-383DFF410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971D2-ECB2-817C-3CA6-F3D39C015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4" y="959647"/>
            <a:ext cx="4586288" cy="565047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A6B220-A8D2-B19E-61ED-86F8BFA127E4}"/>
              </a:ext>
            </a:extLst>
          </p:cNvPr>
          <p:cNvCxnSpPr>
            <a:endCxn id="4" idx="3"/>
          </p:cNvCxnSpPr>
          <p:nvPr/>
        </p:nvCxnSpPr>
        <p:spPr>
          <a:xfrm flipH="1">
            <a:off x="5357812" y="3429000"/>
            <a:ext cx="1414463" cy="35588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135D294-F5FE-5B9B-4753-285DC3A4CC7A}"/>
              </a:ext>
            </a:extLst>
          </p:cNvPr>
          <p:cNvSpPr txBox="1"/>
          <p:nvPr/>
        </p:nvSpPr>
        <p:spPr>
          <a:xfrm>
            <a:off x="6786130" y="2960610"/>
            <a:ext cx="2300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60% Black because of site locations</a:t>
            </a:r>
          </a:p>
        </p:txBody>
      </p:sp>
    </p:spTree>
    <p:extLst>
      <p:ext uri="{BB962C8B-B14F-4D97-AF65-F5344CB8AC3E}">
        <p14:creationId xmlns:p14="http://schemas.microsoft.com/office/powerpoint/2010/main" val="306898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B217-DF1B-F953-18F3-3C309FE9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BCAB-3A5D-B241-8DB6-1E203E905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BD35B1-EDC1-E4EF-6C6E-4DDAD17E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93439"/>
            <a:ext cx="7772400" cy="16711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0E7089-650B-9825-983C-434A385DE8E8}"/>
              </a:ext>
            </a:extLst>
          </p:cNvPr>
          <p:cNvSpPr/>
          <p:nvPr/>
        </p:nvSpPr>
        <p:spPr>
          <a:xfrm>
            <a:off x="685800" y="3429000"/>
            <a:ext cx="1736558" cy="485274"/>
          </a:xfrm>
          <a:prstGeom prst="rect">
            <a:avLst/>
          </a:prstGeom>
          <a:noFill/>
          <a:ln w="1111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D5585-8ED6-89D8-ED53-3C30BBD988AB}"/>
              </a:ext>
            </a:extLst>
          </p:cNvPr>
          <p:cNvSpPr/>
          <p:nvPr/>
        </p:nvSpPr>
        <p:spPr>
          <a:xfrm>
            <a:off x="5029200" y="3429000"/>
            <a:ext cx="854765" cy="485274"/>
          </a:xfrm>
          <a:prstGeom prst="rect">
            <a:avLst/>
          </a:prstGeom>
          <a:noFill/>
          <a:ln w="1111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7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A6D9-9E0A-32DA-5AFD-2C59ADAD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 not that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2A065-BD76-F54A-94AC-206E565B8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8.8% vs 8.4%</a:t>
            </a:r>
          </a:p>
          <a:p>
            <a:pPr marL="0" indent="0">
              <a:buNone/>
            </a:pPr>
            <a:r>
              <a:rPr lang="en-US" dirty="0"/>
              <a:t>But a lot of imputation/carry forward/modeling of what would have happened for people who discontinue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0A15A-E557-05B4-C74C-4EFBC3F41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094775"/>
            <a:ext cx="7772400" cy="285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30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18ED-C36E-0FF9-A9E4-1E327579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41EA-A2F3-ED1A-8BBC-45F6E473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15" y="175478"/>
            <a:ext cx="7886700" cy="6627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99BF2-B319-F254-A4DD-2BE218FE6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01"/>
          <a:stretch>
            <a:fillRect/>
          </a:stretch>
        </p:blipFill>
        <p:spPr>
          <a:xfrm>
            <a:off x="762679" y="838259"/>
            <a:ext cx="6427830" cy="56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2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E140-0200-CA31-5CFC-C2F9CF71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2" y="334960"/>
            <a:ext cx="2386013" cy="6619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 like this POV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6D4FC-A12D-2BAD-D7EF-3E3869C8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169404"/>
            <a:ext cx="4757738" cy="651919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8D32032-2634-A8FB-8561-85E7B1C523BF}"/>
              </a:ext>
            </a:extLst>
          </p:cNvPr>
          <p:cNvSpPr/>
          <p:nvPr/>
        </p:nvSpPr>
        <p:spPr>
          <a:xfrm>
            <a:off x="3714750" y="4900614"/>
            <a:ext cx="2657475" cy="1485900"/>
          </a:xfrm>
          <a:prstGeom prst="ellipse">
            <a:avLst/>
          </a:prstGeom>
          <a:noFill/>
          <a:ln w="539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48633A-798C-9DC4-AB50-48142C6DDDB2}"/>
                  </a:ext>
                </a:extLst>
              </p:cNvPr>
              <p:cNvSpPr txBox="1"/>
              <p:nvPr/>
            </p:nvSpPr>
            <p:spPr>
              <a:xfrm>
                <a:off x="328612" y="2543175"/>
                <a:ext cx="238601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NNT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dirty="0"/>
                  <a:t> 5 for improvement from “marked”</a:t>
                </a:r>
              </a:p>
              <a:p>
                <a:r>
                  <a:rPr lang="en-US" sz="2400" dirty="0"/>
                  <a:t>to “mild”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48633A-798C-9DC4-AB50-48142C6DD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2" y="2543175"/>
                <a:ext cx="2386013" cy="1569660"/>
              </a:xfrm>
              <a:prstGeom prst="rect">
                <a:avLst/>
              </a:prstGeom>
              <a:blipFill>
                <a:blip r:embed="rId3"/>
                <a:stretch>
                  <a:fillRect l="-3704" t="-3226" b="-8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57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A00F-449D-470A-2798-83D74A92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16" y="0"/>
            <a:ext cx="7886700" cy="1325563"/>
          </a:xfrm>
        </p:spPr>
        <p:txBody>
          <a:bodyPr/>
          <a:lstStyle/>
          <a:p>
            <a:r>
              <a:rPr lang="en-US" b="1" dirty="0"/>
              <a:t>negative subscale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B9BE-2257-162B-48F6-35B400264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554162"/>
            <a:ext cx="8229600" cy="46751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03334-1AB6-6284-7696-4963998E2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17" y="960853"/>
            <a:ext cx="7366966" cy="526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47C1-D994-E573-E2D2-628A89D8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" y="122238"/>
            <a:ext cx="3438592" cy="777875"/>
          </a:xfrm>
        </p:spPr>
        <p:txBody>
          <a:bodyPr/>
          <a:lstStyle/>
          <a:p>
            <a:r>
              <a:rPr lang="en-US" b="1" dirty="0"/>
              <a:t>tolerability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96191-672A-B649-035E-9182A684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8" y="900113"/>
            <a:ext cx="6266074" cy="2494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003D47-1A83-3861-D8C6-FD9C817E4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323" y="3463725"/>
            <a:ext cx="6600576" cy="28605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BF8D53-E3E0-2675-EF22-01BCFF608909}"/>
              </a:ext>
            </a:extLst>
          </p:cNvPr>
          <p:cNvSpPr txBox="1"/>
          <p:nvPr/>
        </p:nvSpPr>
        <p:spPr>
          <a:xfrm>
            <a:off x="409386" y="4493908"/>
            <a:ext cx="1171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(for EPS)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7FF57C-21BD-007D-52B2-FF622D84619A}"/>
              </a:ext>
            </a:extLst>
          </p:cNvPr>
          <p:cNvSpPr txBox="1"/>
          <p:nvPr/>
        </p:nvSpPr>
        <p:spPr>
          <a:xfrm>
            <a:off x="409386" y="5557837"/>
            <a:ext cx="1314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(for TD, confused about this)</a:t>
            </a:r>
          </a:p>
        </p:txBody>
      </p:sp>
    </p:spTree>
    <p:extLst>
      <p:ext uri="{BB962C8B-B14F-4D97-AF65-F5344CB8AC3E}">
        <p14:creationId xmlns:p14="http://schemas.microsoft.com/office/powerpoint/2010/main" val="148118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CD427-5052-B3CA-DEA8-A37A9B26D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9861"/>
            <a:ext cx="7886700" cy="5338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18C478-81B7-EEFF-3ADA-56773727E477}"/>
              </a:ext>
            </a:extLst>
          </p:cNvPr>
          <p:cNvSpPr txBox="1">
            <a:spLocks/>
          </p:cNvSpPr>
          <p:nvPr/>
        </p:nvSpPr>
        <p:spPr>
          <a:xfrm>
            <a:off x="184117" y="79375"/>
            <a:ext cx="3438592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3B714-9C3A-6ED4-C390-DCEDD8C3F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60" y="1922849"/>
            <a:ext cx="7024749" cy="3590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539638-18AF-A384-271B-65CDB1BF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60" y="374263"/>
            <a:ext cx="7092080" cy="15485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8C684A-A3E7-E6DC-5061-B2672CD666D5}"/>
              </a:ext>
            </a:extLst>
          </p:cNvPr>
          <p:cNvSpPr/>
          <p:nvPr/>
        </p:nvSpPr>
        <p:spPr>
          <a:xfrm>
            <a:off x="1328738" y="5096532"/>
            <a:ext cx="6372225" cy="368863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0801B1-C432-9FB3-E7ED-4A47E0BC15D2}"/>
              </a:ext>
            </a:extLst>
          </p:cNvPr>
          <p:cNvCxnSpPr>
            <a:cxnSpLocks/>
          </p:cNvCxnSpPr>
          <p:nvPr/>
        </p:nvCxnSpPr>
        <p:spPr>
          <a:xfrm flipV="1">
            <a:off x="1093291" y="3943350"/>
            <a:ext cx="235447" cy="1667263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E688502-3CED-3A39-5CB2-0F9540249183}"/>
              </a:ext>
            </a:extLst>
          </p:cNvPr>
          <p:cNvSpPr txBox="1"/>
          <p:nvPr/>
        </p:nvSpPr>
        <p:spPr>
          <a:xfrm>
            <a:off x="476420" y="5592201"/>
            <a:ext cx="285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anticholinergic 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B38703-07CE-D2E8-C091-FD45A7567466}"/>
              </a:ext>
            </a:extLst>
          </p:cNvPr>
          <p:cNvSpPr/>
          <p:nvPr/>
        </p:nvSpPr>
        <p:spPr>
          <a:xfrm>
            <a:off x="1211014" y="2506580"/>
            <a:ext cx="6372225" cy="1085850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7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FD25-A0E3-4391-D40B-8DB657D2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1119-154F-2072-09BA-21E6F59D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72" y="243176"/>
            <a:ext cx="7886700" cy="1325563"/>
          </a:xfrm>
        </p:spPr>
        <p:txBody>
          <a:bodyPr/>
          <a:lstStyle/>
          <a:p>
            <a:r>
              <a:rPr lang="en-US" b="1" dirty="0"/>
              <a:t>open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995C8-856D-1AC8-E3F6-B0043779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72" y="142059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long term outcomes?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effects in combination w/ other drugs?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helpful if traditional antipsychotics fail?</a:t>
            </a:r>
          </a:p>
        </p:txBody>
      </p:sp>
    </p:spTree>
    <p:extLst>
      <p:ext uri="{BB962C8B-B14F-4D97-AF65-F5344CB8AC3E}">
        <p14:creationId xmlns:p14="http://schemas.microsoft.com/office/powerpoint/2010/main" val="4112324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1AF0-9694-A07B-BEA7-735C91ED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23" y="171162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should it be on formulary?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26E86-A76F-07FB-B263-974149EB6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53331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effect size: 8 pts, d = 0.6</a:t>
                </a:r>
              </a:p>
              <a:p>
                <a:pPr marL="0" indent="0">
                  <a:buNone/>
                </a:pPr>
                <a:r>
                  <a:rPr lang="en-US" sz="2400" dirty="0"/>
                  <a:t>big? small?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Cost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dirty="0"/>
                  <a:t> $20,000/year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should it be on formulary?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26E86-A76F-07FB-B263-974149EB6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53331"/>
                <a:ext cx="7886700" cy="4351338"/>
              </a:xfrm>
              <a:blipFill>
                <a:blip r:embed="rId2"/>
                <a:stretch>
                  <a:fillRect l="-12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5EEF75F-64A9-4F02-6DD0-2F3058778F28}"/>
              </a:ext>
            </a:extLst>
          </p:cNvPr>
          <p:cNvSpPr txBox="1"/>
          <p:nvPr/>
        </p:nvSpPr>
        <p:spPr>
          <a:xfrm>
            <a:off x="1600381" y="4156364"/>
            <a:ext cx="57061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DALY = 16 hours/day x 365 days x $40/hour = $233,600</a:t>
            </a:r>
          </a:p>
          <a:p>
            <a:endParaRPr lang="en-US" b="1" i="1" dirty="0"/>
          </a:p>
          <a:p>
            <a:r>
              <a:rPr lang="en-US" b="1" i="1" dirty="0"/>
              <a:t>Common disability weights for psychotic d/o ~0.6</a:t>
            </a:r>
          </a:p>
          <a:p>
            <a:r>
              <a:rPr lang="en-US" b="1" i="1" dirty="0"/>
              <a:t>severe vs mild reduction of 0.2?!!??!</a:t>
            </a:r>
          </a:p>
          <a:p>
            <a:endParaRPr lang="en-US" b="1" i="1" dirty="0"/>
          </a:p>
          <a:p>
            <a:r>
              <a:rPr lang="en-US" b="1" i="1" dirty="0"/>
              <a:t>benefit = 0.2 x $233,600 = $46,720 so benefit &gt; cost</a:t>
            </a:r>
          </a:p>
        </p:txBody>
      </p:sp>
    </p:spTree>
    <p:extLst>
      <p:ext uri="{BB962C8B-B14F-4D97-AF65-F5344CB8AC3E}">
        <p14:creationId xmlns:p14="http://schemas.microsoft.com/office/powerpoint/2010/main" val="32740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9982-6E86-4130-CBC0-7F802461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8B76E-604D-8094-D088-362131CEB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D485A-54A8-F8B9-CD46-50680723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817022"/>
            <a:ext cx="45974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45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1543</TotalTime>
  <Words>343</Words>
  <Application>Microsoft Macintosh PowerPoint</Application>
  <PresentationFormat>On-screen Show (4:3)</PresentationFormat>
  <Paragraphs>92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Cobenfy</vt:lpstr>
      <vt:lpstr>Background</vt:lpstr>
      <vt:lpstr>new antipsychotic class</vt:lpstr>
      <vt:lpstr>Trials EMERGENT 2 and 3 (similar)</vt:lpstr>
      <vt:lpstr>trial quality</vt:lpstr>
      <vt:lpstr>Balance Table</vt:lpstr>
      <vt:lpstr>random</vt:lpstr>
      <vt:lpstr>Attrition not that bad</vt:lpstr>
      <vt:lpstr>Results</vt:lpstr>
      <vt:lpstr>I like this POV</vt:lpstr>
      <vt:lpstr>negative subscale</vt:lpstr>
      <vt:lpstr>tolerability</vt:lpstr>
      <vt:lpstr>PowerPoint Presentation</vt:lpstr>
      <vt:lpstr>open questions</vt:lpstr>
      <vt:lpstr>should it be on formulary?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White</dc:creator>
  <cp:lastModifiedBy>Steven White</cp:lastModifiedBy>
  <cp:revision>1</cp:revision>
  <dcterms:created xsi:type="dcterms:W3CDTF">2025-08-20T14:25:32Z</dcterms:created>
  <dcterms:modified xsi:type="dcterms:W3CDTF">2025-08-21T16:08:38Z</dcterms:modified>
</cp:coreProperties>
</file>